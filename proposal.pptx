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年次差引効果（純削減 − 割賦支払）</c:v>
                </c:pt>
              </c:strCache>
            </c:strRef>
          </c:tx>
          <c:spPr>
            <a:solidFill>
              <a:srgbClr val="1E6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3A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  <c:pt idx="5">
                    <c:v>6年目</c:v>
                  </c:pt>
                  <c:pt idx="6">
                    <c:v>7年目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196103</c:v>
                </c:pt>
                <c:pt idx="1">
                  <c:v>392206</c:v>
                </c:pt>
                <c:pt idx="2">
                  <c:v>588309</c:v>
                </c:pt>
                <c:pt idx="3">
                  <c:v>784412</c:v>
                </c:pt>
                <c:pt idx="4">
                  <c:v>980515</c:v>
                </c:pt>
                <c:pt idx="5">
                  <c:v>1176618</c:v>
                </c:pt>
                <c:pt idx="6">
                  <c:v>1372721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3A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7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C3A5E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320040"/>
            <a:ext cx="3108960" cy="2743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320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A5E"/>
                </a:solidFill>
              </a:rPr>
              <a:t>社会福祉法人 誠光福祉会　えんゆうの郷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ピュアット２台導入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ご承認のお願い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365760" y="2578608"/>
            <a:ext cx="4434840" cy="438912"/>
          </a:xfrm>
          <a:prstGeom prst="rect">
            <a:avLst/>
          </a:prstGeom>
          <a:solidFill>
            <a:srgbClr val="1E6B3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25786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T&amp;Dリース 84ヶ月 割賦　月額 34,980円（税込）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0906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E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 +20,759円（黒字）　7年後効果 +1,372,721円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493008"/>
            <a:ext cx="4434840" cy="237744"/>
          </a:xfrm>
          <a:prstGeom prst="rect">
            <a:avLst/>
          </a:prstGeom>
          <a:solidFill>
            <a:srgbClr val="163E6E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49300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削減効果の5項目　合計 668,879円/年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5488" y="378561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・介助人件費 440,679円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" y="404164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・洗剤費 23,200円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429768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・浴槽清掃 15,000円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" y="455371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・肌トラブル対応 40,000円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0048" y="455371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D8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・職員定着効果 150,000円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69087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起案日：令和8年5月18日　　起案：副施設長　遠藤 健一郎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見積有効期限：令和8年7月1日（T&amp;Dリース㈱）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削減効果の積み上げ　〜 5つの根拠で確実に黒字 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6858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介助人件費削減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618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7名+7名×5分/回短縮×人件費単価×稼働日数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92240" y="10241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3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440,679円/年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060704"/>
            <a:ext cx="475488" cy="256032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060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確定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85953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19072"/>
            <a:ext cx="109728" cy="6858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773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洗剤費削減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0665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昨年実績全額（入浴補助用洗剤・シャンプー等）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23,200円/年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1865376"/>
            <a:ext cx="475488" cy="256032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86537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確定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5953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23744"/>
            <a:ext cx="109728" cy="6858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浴槽清掃コスト削減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28712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汚れ付着減少により清掃頻度・洗剤量が約20%削減（保守的）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2633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15,000円/年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35040" y="2670048"/>
            <a:ext cx="475488" cy="2560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6700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保守的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328416"/>
            <a:ext cx="85953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28416"/>
            <a:ext cx="109728" cy="685800"/>
          </a:xfrm>
          <a:prstGeom prst="rect">
            <a:avLst/>
          </a:prstGeom>
          <a:solidFill>
            <a:srgbClr val="92610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61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肌トラブル対応削減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36758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褥瘡・皮膚炎の予防効果1件分（処置材料費＋処置時間）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438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261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40,000円/年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5040" y="3474720"/>
            <a:ext cx="475488" cy="2560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347472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保守的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33088"/>
            <a:ext cx="109728" cy="685800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職員定着効果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" y="44805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離職防止0.5名分（求人・採用・研修・OJT費用）の保守的計上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42428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150,000円/年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35040" y="4279392"/>
            <a:ext cx="475488" cy="2560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427939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保守的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956048"/>
            <a:ext cx="85953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2803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668,879円/年　（月次 55,739円/月）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削減効果合計：668,879円/年　 月次：55,739円/月　 ランニングコスト控除後の純削減：615,863円/年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ピュアットとは　〜 お湯につかるだけで洗身できる装置 〜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38404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0" y="960120"/>
            <a:ext cx="452628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6" name="Text 3"/>
          <p:cNvSpPr/>
          <p:nvPr/>
        </p:nvSpPr>
        <p:spPr>
          <a:xfrm>
            <a:off x="4389120" y="9601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製品の特長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89120" y="1783080"/>
            <a:ext cx="4526280" cy="2926080"/>
          </a:xfrm>
          <a:prstGeom prst="rect">
            <a:avLst/>
          </a:prstGeom>
          <a:solidFill>
            <a:srgbClr val="EBF4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98848" y="1901952"/>
            <a:ext cx="347472" cy="34747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6"/>
          <p:cNvSpPr/>
          <p:nvPr/>
        </p:nvSpPr>
        <p:spPr>
          <a:xfrm>
            <a:off x="4498848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1920240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浴槽内のお湯を循環させ1μm未満のウルトラファインバブル（UFB）を生成。泡が汚れに吸着し洗浄（特許第6353936号）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98848" y="2578608"/>
            <a:ext cx="347472" cy="34747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9"/>
          <p:cNvSpPr/>
          <p:nvPr/>
        </p:nvSpPr>
        <p:spPr>
          <a:xfrm>
            <a:off x="449884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596896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こすり洗い・石鹸・体位変更なしで洗身完了。お湯に5分つかるだけ→こすり洗いによる肌への摩擦ゼロ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98848" y="3255264"/>
            <a:ext cx="347472" cy="34747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2"/>
          <p:cNvSpPr/>
          <p:nvPr/>
        </p:nvSpPr>
        <p:spPr>
          <a:xfrm>
            <a:off x="4498848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273552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コンセントに挿すだけ・工事不要。重量14kg・持ち運び可能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98848" y="3931920"/>
            <a:ext cx="347472" cy="347472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8" name="Text 15"/>
          <p:cNvSpPr/>
          <p:nvPr/>
        </p:nvSpPr>
        <p:spPr>
          <a:xfrm>
            <a:off x="449884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3950208"/>
            <a:ext cx="3886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実証試験：汚れ除去率90%（こすり洗いと同等以上）PSC認定済み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当施設での試用結果（令和8年4〜5月）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2号館 暮雪ユニット（個浴・7名）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60520" cy="324612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264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介助時間：30分 → 3〜5分 短縮（実測値）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0391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職員数：洗身時4名 → 2名に削減可能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651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洗剤：全身使用 → 陰部等一部のみ（洗剤削減の根拠）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2644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浴槽への汚れ付着が少ない（清掃削減の根拠）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877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留意：皮膚脆弱な方1名に痒み増強事例あり（個別対応）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1号館 華・柔ユニット（特浴・7名）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353312"/>
            <a:ext cx="4160520" cy="3246120"/>
          </a:xfrm>
          <a:prstGeom prst="rect">
            <a:avLst/>
          </a:prstGeom>
          <a:solidFill>
            <a:srgbClr val="EBF4FF"/>
          </a:solidFill>
          <a:ln w="12700">
            <a:solidFill>
              <a:srgbClr val="4299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4264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介助時間：概ね約5分の短縮を確認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20391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職員数：2名（変わらず）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2651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洗剤：陰部等一部のみに削減（同左）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18888" y="32644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垢の除去効果を職員が実感・浴槽汚れも減少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877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ADLが高い方はシャンプーを一部継続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両ユニットで介助時間短縮・洗剤削減・浴槽汚れ減少を確認。これら3点が本試算の根拠となっています。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費用対効果　〜 1号館7名・2号館7名 / 5項目試算 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347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現状コスト（人件費）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34640" cy="914400"/>
          </a:xfrm>
          <a:prstGeom prst="rect">
            <a:avLst/>
          </a:prstGeom>
          <a:solidFill>
            <a:srgbClr val="FAFAFA"/>
          </a:solidFill>
          <a:ln w="19050">
            <a:solidFill>
              <a:srgbClr val="C5303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167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463,879円/年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8836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介助人件費＋洗剤費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83464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3172968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削減後コスト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261872"/>
            <a:ext cx="2834640" cy="914400"/>
          </a:xfrm>
          <a:prstGeom prst="rect">
            <a:avLst/>
          </a:prstGeom>
          <a:solidFill>
            <a:srgbClr val="FAFAFA"/>
          </a:solidFill>
          <a:ln w="19050">
            <a:solidFill>
              <a:srgbClr val="2B6C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13167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-151,984円/年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64408" y="18836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ランニングコスト含む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914400"/>
            <a:ext cx="2834640" cy="347472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6117336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純削減効果（5項目計）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261872"/>
            <a:ext cx="2834640" cy="914400"/>
          </a:xfrm>
          <a:prstGeom prst="rect">
            <a:avLst/>
          </a:prstGeom>
          <a:solidFill>
            <a:srgbClr val="FAFAFA"/>
          </a:solidFill>
          <a:ln w="19050">
            <a:solidFill>
              <a:srgbClr val="1E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8776" y="131673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615,863円/年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8776" y="18836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月51,321円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286000"/>
            <a:ext cx="8686800" cy="27432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286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削減効果の内訳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578608"/>
            <a:ext cx="2606040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78608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削減項目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34640" y="2578608"/>
            <a:ext cx="2103120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年間削減額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578608"/>
            <a:ext cx="2880360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78608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算出根拠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18120" y="2578608"/>
            <a:ext cx="1097280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2578608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260604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26080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介助人件費（7+7名）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2926080"/>
            <a:ext cx="210312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2926080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440,679円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926080"/>
            <a:ext cx="288036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926080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30分→25分 × 単価 × 稼働日数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2926080"/>
            <a:ext cx="109728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273552"/>
            <a:ext cx="260604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73552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洗剤費（昨年実績）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3273552"/>
            <a:ext cx="210312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3273552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23,200円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3273552"/>
            <a:ext cx="288036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273552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昨年実績全額・実測値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18120" y="3273552"/>
            <a:ext cx="109728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3273552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621024"/>
            <a:ext cx="260604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621024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浴槽清掃コスト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4640" y="3621024"/>
            <a:ext cx="210312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80360" y="3621024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15,000円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37760" y="3621024"/>
            <a:ext cx="288036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621024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清掃頻度・洗剤量約20%削減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818120" y="3621024"/>
            <a:ext cx="109728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362102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保守的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968496"/>
            <a:ext cx="260604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968496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肌トラブル対応コスト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34640" y="3968496"/>
            <a:ext cx="210312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80360" y="3968496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40,000円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937760" y="3968496"/>
            <a:ext cx="288036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3968496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予防効果1件分（処置材料＋時間）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818120" y="3968496"/>
            <a:ext cx="1097280" cy="329184"/>
          </a:xfrm>
          <a:prstGeom prst="rect">
            <a:avLst/>
          </a:prstGeom>
          <a:solidFill>
            <a:srgbClr val="F0F7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3968496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保守的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" y="4315968"/>
            <a:ext cx="260604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315968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職員定着効果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34640" y="4315968"/>
            <a:ext cx="210312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80360" y="431596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150,000円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37760" y="4315968"/>
            <a:ext cx="288036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83480" y="4315968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離職防止0.5名分（採用・研修費）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818120" y="4315968"/>
            <a:ext cx="1097280" cy="329184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4315968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保守的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28600" y="4663440"/>
            <a:ext cx="2606040" cy="329184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" y="4663440"/>
            <a:ext cx="2514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/ ランニングコスト控除後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834640" y="4663440"/>
            <a:ext cx="2103120" cy="329184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8036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668,879円 / 615,863円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937760" y="4663440"/>
            <a:ext cx="2880360" cy="329184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83480" y="4663440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818120" y="4663440"/>
            <a:ext cx="1097280" cy="329184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4663440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月次収支と長期投資視点　〜 即日黒字・7年後プラス 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57400" cy="320040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6012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月次削減効果（5項目計）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05740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1E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55,739円/月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04872" y="960120"/>
            <a:ext cx="2057400" cy="32004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9" name="Text 7"/>
          <p:cNvSpPr/>
          <p:nvPr/>
        </p:nvSpPr>
        <p:spPr>
          <a:xfrm>
            <a:off x="2404872" y="96012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割賦月額（税込）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4872" y="1280160"/>
            <a:ext cx="205740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1C3A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325880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34,980円/月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81144" y="960120"/>
            <a:ext cx="2057400" cy="320040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96012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81144" y="1280160"/>
            <a:ext cx="205740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1E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325880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+20,759円/月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2057400" cy="320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6757416" y="960120"/>
            <a:ext cx="205740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8年目以降 毎月純益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57416" y="1280160"/>
            <a:ext cx="205740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325880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+51,321円/月</a:t>
            </a:r>
            <a:endParaRPr lang="en-US" sz="1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2286000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035040" y="2286000"/>
            <a:ext cx="2880360" cy="777240"/>
          </a:xfrm>
          <a:prstGeom prst="rect">
            <a:avLst/>
          </a:prstGeom>
          <a:solidFill>
            <a:srgbClr val="1C3A5E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126480" y="232257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減価償却年数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26480" y="26060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4.77年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126480" y="294436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D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約4年9ヶ月で回収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35040" y="3182112"/>
            <a:ext cx="2880360" cy="777240"/>
          </a:xfrm>
          <a:prstGeom prst="rect">
            <a:avLst/>
          </a:prstGeom>
          <a:solidFill>
            <a:srgbClr val="1E6B3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26480" y="32186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7年後投資効果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26480" y="350215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+1,372,721円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126480" y="384048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D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割賦・ランニング全控除後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35040" y="4078224"/>
            <a:ext cx="2880360" cy="777240"/>
          </a:xfrm>
          <a:prstGeom prst="rect">
            <a:avLst/>
          </a:prstGeom>
          <a:solidFill>
            <a:srgbClr val="0F6E5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126480" y="41148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7年後以降 毎月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26480" y="439826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+51,321円/月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126480" y="47365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D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所有権移転後の純益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28600" y="495604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7年後に所有権移転。以降はランニングコストのみで継続活用。翌月から毎月+51,321円の純益が継続します。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T&amp;Dリース 見積書 比較　〜 4プランの検討 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103120" cy="50292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リース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2台 84ヶ月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103120" cy="3310128"/>
          </a:xfrm>
          <a:prstGeom prst="rect">
            <a:avLst/>
          </a:prstGeom>
          <a:solidFill>
            <a:srgbClr val="FAFAFA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536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見積番号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61872" y="15361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146390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0482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月額（税込）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61872" y="204825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36,245円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61872" y="2560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+19,494円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0723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総支払額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30723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3,044,580円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35844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7年後効果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61872" y="35844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+1,266,461円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40965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409651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移転なし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87168" y="960120"/>
            <a:ext cx="2103120" cy="502920"/>
          </a:xfrm>
          <a:prstGeom prst="rect">
            <a:avLst/>
          </a:prstGeom>
          <a:solidFill>
            <a:srgbClr val="1E6B3A"/>
          </a:solidFill>
          <a:ln/>
        </p:spPr>
      </p:sp>
      <p:sp>
        <p:nvSpPr>
          <p:cNvPr id="20" name="Text 18"/>
          <p:cNvSpPr/>
          <p:nvPr/>
        </p:nvSpPr>
        <p:spPr>
          <a:xfrm>
            <a:off x="2487168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2台 84ヶ月★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87168" y="1463040"/>
            <a:ext cx="2103120" cy="3310128"/>
          </a:xfrm>
          <a:prstGeom prst="rect">
            <a:avLst/>
          </a:prstGeom>
          <a:solidFill>
            <a:srgbClr val="EAF3DE"/>
          </a:solidFill>
          <a:ln w="25400">
            <a:solidFill>
              <a:srgbClr val="1E6B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1536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見積番号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15361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146430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0482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月額（税込）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0" y="204825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34,980円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2560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+20,759円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0723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総支払額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30723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2,938,320円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35844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7年後効果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35844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+1,372,721円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40965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409651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移転あり（7年後）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87168" y="4828032"/>
            <a:ext cx="2103120" cy="25603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2487168" y="4828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A5E"/>
                </a:solidFill>
              </a:rPr>
              <a:t>★ 推奨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0016" y="960120"/>
            <a:ext cx="2103120" cy="50292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7" name="Text 35"/>
          <p:cNvSpPr/>
          <p:nvPr/>
        </p:nvSpPr>
        <p:spPr>
          <a:xfrm>
            <a:off x="4700016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リース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 84ヶ月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0016" y="1463040"/>
            <a:ext cx="2103120" cy="3310128"/>
          </a:xfrm>
          <a:prstGeom prst="rect">
            <a:avLst/>
          </a:prstGeom>
          <a:solidFill>
            <a:srgbClr val="FAFAFA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73168" y="1536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見積番号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87568" y="15361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146420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3168" y="20482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月額（税込）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87568" y="204825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18,150円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87568" y="2560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+37,589円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30723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総支払額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87568" y="30723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1,524,600円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73168" y="35844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7年後効果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87568" y="35844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+2,971,997円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3168" y="40965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87568" y="409651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移転なし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12864" y="960120"/>
            <a:ext cx="2103120" cy="50292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52" name="Text 50"/>
          <p:cNvSpPr/>
          <p:nvPr/>
        </p:nvSpPr>
        <p:spPr>
          <a:xfrm>
            <a:off x="6912864" y="960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1台 84ヶ月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12864" y="1463040"/>
            <a:ext cx="2103120" cy="3310128"/>
          </a:xfrm>
          <a:prstGeom prst="rect">
            <a:avLst/>
          </a:prstGeom>
          <a:solidFill>
            <a:srgbClr val="FAFAFA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86016" y="1536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見積番号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900416" y="15361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146440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86016" y="204825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月額（税込）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900416" y="204825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17,523円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86016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月次収支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900416" y="25603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+38,216円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86016" y="30723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総支払額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900416" y="307238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1,471,932円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86016" y="35844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7年後効果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900416" y="35844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+3,024,665円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86016" y="40965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900416" y="409651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移転あり（7年後）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有効期限：令和8年7月1日　　T&amp;Dリース㈱ 大阪支店　TEL: 06-6484-3911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長期投資としての優位性　〜 7年後以降の継続価値 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180" y="1668780"/>
            <a:ext cx="320040" cy="32004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6" name="Text 4"/>
          <p:cNvSpPr/>
          <p:nvPr/>
        </p:nvSpPr>
        <p:spPr>
          <a:xfrm>
            <a:off x="-54864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548640" y="2633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割賦開始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00300" y="1668780"/>
            <a:ext cx="320040" cy="3200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4年10ヶ月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633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減価償却完了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3460" y="1623060"/>
            <a:ext cx="411480" cy="411480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7年後（令和15年6月）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2633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割賦完済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所有権移転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55180" y="1668780"/>
            <a:ext cx="320040" cy="3200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8年目以降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633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毎月+51,321円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純益が続く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2834640" cy="1691640"/>
          </a:xfrm>
          <a:prstGeom prst="rect">
            <a:avLst/>
          </a:prstGeom>
          <a:solidFill>
            <a:srgbClr val="1E6B3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7年間の累積純益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62102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+1,372,721円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割賦・ランニングコストすべて控除後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200400"/>
            <a:ext cx="2834640" cy="1691640"/>
          </a:xfrm>
          <a:prstGeom prst="rect">
            <a:avLst/>
          </a:prstGeom>
          <a:solidFill>
            <a:srgbClr val="0F6E5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8年目以降 月次純益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62102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+51,321円/月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10128" y="43525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年間+615,863円の純益が継続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3200400"/>
            <a:ext cx="2834640" cy="1691640"/>
          </a:xfrm>
          <a:prstGeom prst="rect">
            <a:avLst/>
          </a:prstGeom>
          <a:solidFill>
            <a:srgbClr val="1C3A5E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54496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20年間の試算純益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362102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+9,378,940円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54496" y="43525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8〜20年目の追加純益を加算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20年試算は7年後以降もランニングコスト53,016円/年のみ発生すると仮定した試算値。7年後に所有権移転のため追加の割賦支払いはなし。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163E6E">
              <a:alpha val="30000"/>
            </a:srgbClr>
          </a:solidFill>
          <a:ln w="12700">
            <a:solidFill>
              <a:srgbClr val="163E6E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5852160" y="96012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ご承認のお願い　〜 まとめ 〜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384048" cy="38404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868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8869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月次即日黒字　+20,759円/月。5項目の削減効果（668,879円/年）が割賦月額（34,980円）を大きく上回ります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618488"/>
            <a:ext cx="384048" cy="38404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6367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利用者様への肌にやさしい入浴（こすり洗い不要）と介助時間の約30%短縮、浴槽清掃の負担軽減を同時に実現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368296"/>
            <a:ext cx="384048" cy="38404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23865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7年後の投資効果は+1,372,721円。84ヶ月完済後は法人資産として所有権移転し、以降は毎月+51,321円の純益が継続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" y="3118104"/>
            <a:ext cx="384048" cy="38404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136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保守的に計上した「肌トラブル対応削減」「職員定着効果」は現場の実態に即した数字。確定2項目だけでも月次黒字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1480" y="3867912"/>
            <a:ext cx="384048" cy="38404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5E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38862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当施設での試用でも両ユニットで介助時間短縮・洗剤削減・浴槽汚れ減少を実際に確認済み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D69E2E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理事長のご承認をいただけますよう、何とぞよろしくお願い申し上げます。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2026-05-18T06:03:23Z</dcterms:created>
  <dcterms:modified xsi:type="dcterms:W3CDTF">2026-05-18T06:03:23Z</dcterms:modified>
</cp:coreProperties>
</file>